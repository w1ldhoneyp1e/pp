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Manrope SemiBold"/>
      <p:regular r:id="rId44"/>
      <p:bold r:id="rId45"/>
    </p:embeddedFont>
    <p:embeddedFont>
      <p:font typeface="Manrope"/>
      <p:regular r:id="rId46"/>
      <p:bold r:id="rId47"/>
    </p:embeddedFont>
    <p:embeddedFont>
      <p:font typeface="Manrope ExtraBold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7">
          <p15:clr>
            <a:srgbClr val="747775"/>
          </p15:clr>
        </p15:guide>
        <p15:guide id="2" orient="horz" pos="1944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Карамышев Елисей"/>
  <p:cmAuthor clrIdx="1" id="1" initials="" lastIdx="1" name="Wild Honey Pi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7"/>
        <p:guide pos="194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3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5.xml"/><Relationship Id="rId44" Type="http://schemas.openxmlformats.org/officeDocument/2006/relationships/font" Target="fonts/ManropeSemiBold-regular.fntdata"/><Relationship Id="rId21" Type="http://schemas.openxmlformats.org/officeDocument/2006/relationships/slide" Target="slides/slide14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7.xml"/><Relationship Id="rId46" Type="http://schemas.openxmlformats.org/officeDocument/2006/relationships/font" Target="fonts/Manrope-regular.fntdata"/><Relationship Id="rId23" Type="http://schemas.openxmlformats.org/officeDocument/2006/relationships/slide" Target="slides/slide16.xml"/><Relationship Id="rId45" Type="http://schemas.openxmlformats.org/officeDocument/2006/relationships/font" Target="fonts/Manrope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font" Target="fonts/ManropeExtraBold-bold.fntdata"/><Relationship Id="rId25" Type="http://schemas.openxmlformats.org/officeDocument/2006/relationships/slide" Target="slides/slide18.xml"/><Relationship Id="rId47" Type="http://schemas.openxmlformats.org/officeDocument/2006/relationships/font" Target="fonts/Manrope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02T21:12:39.442">
    <p:pos x="270" y="1012"/>
    <p:text>Это что за знак?</p:text>
  </p:cm>
  <p:cm authorId="1" idx="1" dt="2026-02-02T21:12:39.442">
    <p:pos x="270" y="1012"/>
    <p:text>🤷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6991d66ad_0_10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b6991d66ad_0_10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55" name="Google Shape;55;g3b6991d66ad_0_10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6991d66ad_0_22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b6991d66ad_0_22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64" name="Google Shape;64;g3b6991d66ad_0_22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991d66ad_0_45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6991d66ad_0_45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86" name="Google Shape;86;g3b6991d66ad_0_45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6991d66ad_0_84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6991d66ad_0_84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96" name="Google Shape;96;g3b6991d66ad_0_84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6991d66ad_0_96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6991d66ad_0_96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06" name="Google Shape;106;g3b6991d66ad_0_96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991d66ad_0_109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b6991d66ad_0_109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16" name="Google Shape;116;g3b6991d66ad_0_109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991d66ad_0_122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b6991d66ad_0_122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26" name="Google Shape;126;g3b6991d66ad_0_122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6991d66ad_0_133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6991d66ad_0_133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35" name="Google Shape;135;g3b6991d66ad_0_133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6991d66ad_0_149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b6991d66ad_0_149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44" name="Google Shape;144;g3b6991d66ad_0_149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6991d66ad_0_164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6991d66ad_0_164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55" name="Google Shape;155;g3b6991d66ad_0_164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6991d66ad_0_180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6991d66ad_0_180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66" name="Google Shape;166;g3b6991d66ad_0_180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6991d66ad_0_199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b6991d66ad_0_199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78" name="Google Shape;178;g3b6991d66ad_0_199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6991d66ad_0_216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b6991d66ad_0_216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89" name="Google Shape;189;g3b6991d66ad_0_216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991d66ad_0_242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6991d66ad_0_242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198" name="Google Shape;198;g3b6991d66ad_0_242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6991d66ad_0_255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b6991d66ad_0_255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09" name="Google Shape;209;g3b6991d66ad_0_255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6991d66ad_0_266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b6991d66ad_0_266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19" name="Google Shape;219;g3b6991d66ad_0_266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6991d66ad_0_277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b6991d66ad_0_277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27" name="Google Shape;227;g3b6991d66ad_0_277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6991d66ad_0_285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b6991d66ad_0_285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35" name="Google Shape;235;g3b6991d66ad_0_285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6991d66ad_0_296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b6991d66ad_0_296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46" name="Google Shape;246;g3b6991d66ad_0_296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6991d66ad_0_307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b6991d66ad_0_307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57" name="Google Shape;257;g3b6991d66ad_0_307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6991d66ad_0_230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b6991d66ad_0_230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68" name="Google Shape;268;g3b6991d66ad_0_230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6991d66ad_0_333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b6991d66ad_0_333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77" name="Google Shape;277;g3b6991d66ad_0_333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6991d66ad_0_345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b6991d66ad_0_345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87" name="Google Shape;287;g3b6991d66ad_0_345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6991d66ad_0_355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b6991d66ad_0_355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296" name="Google Shape;296;g3b6991d66ad_0_355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6991d66ad_0_368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b6991d66ad_0_368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07" name="Google Shape;307;g3b6991d66ad_0_368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b6991d66ad_2_7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b6991d66ad_2_7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14" name="Google Shape;314;g3b6991d66ad_2_7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b6991d66ad_2_19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b6991d66ad_2_19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24" name="Google Shape;324;g3b6991d66ad_2_19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6991d66ad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6991d66ad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b6991d66ad_2_169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g3b6991d66ad_2_169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48" name="Google Shape;348;g3b6991d66ad_2_169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6991d66ad_2_180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b6991d66ad_2_180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59" name="Google Shape;359;g3b6991d66ad_2_180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6bdecbe21_2_9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b6bdecbe21_2_9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69" name="Google Shape;369;g3b6bdecbe21_2_9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6bdecbe21_2_1:notes"/>
          <p:cNvSpPr/>
          <p:nvPr>
            <p:ph idx="2" type="sldImg"/>
          </p:nvPr>
        </p:nvSpPr>
        <p:spPr>
          <a:xfrm>
            <a:off x="343079" y="428569"/>
            <a:ext cx="2742900" cy="115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b6bdecbe21_2_1:notes"/>
          <p:cNvSpPr txBox="1"/>
          <p:nvPr>
            <p:ph idx="1" type="body"/>
          </p:nvPr>
        </p:nvSpPr>
        <p:spPr>
          <a:xfrm>
            <a:off x="342900" y="1649991"/>
            <a:ext cx="27432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600"/>
          </a:p>
        </p:txBody>
      </p:sp>
      <p:sp>
        <p:nvSpPr>
          <p:cNvPr id="378" name="Google Shape;378;g3b6bdecbe21_2_1:notes"/>
          <p:cNvSpPr txBox="1"/>
          <p:nvPr>
            <p:ph idx="12" type="sldNum"/>
          </p:nvPr>
        </p:nvSpPr>
        <p:spPr>
          <a:xfrm>
            <a:off x="1942306" y="3256531"/>
            <a:ext cx="14859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ru" sz="600"/>
              <a:t>‹#›</a:t>
            </a:fld>
            <a:endParaRPr sz="6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3550" y="2865875"/>
            <a:ext cx="5921776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428625" y="292225"/>
            <a:ext cx="42438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Регулярные языки</a:t>
            </a:r>
            <a:endParaRPr sz="3600">
              <a:solidFill>
                <a:srgbClr val="2326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1364471" y="41910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6"/>
          <p:cNvGrpSpPr/>
          <p:nvPr/>
        </p:nvGrpSpPr>
        <p:grpSpPr>
          <a:xfrm>
            <a:off x="1765875" y="451251"/>
            <a:ext cx="5392410" cy="4296579"/>
            <a:chOff x="1396432" y="2354"/>
            <a:chExt cx="5901083" cy="5612042"/>
          </a:xfrm>
        </p:grpSpPr>
        <p:sp>
          <p:nvSpPr>
            <p:cNvPr id="69" name="Google Shape;69;p16"/>
            <p:cNvSpPr/>
            <p:nvPr/>
          </p:nvSpPr>
          <p:spPr>
            <a:xfrm>
              <a:off x="3705202" y="2620170"/>
              <a:ext cx="1401900" cy="1586100"/>
            </a:xfrm>
            <a:prstGeom prst="ellipse">
              <a:avLst/>
            </a:prstGeom>
            <a:solidFill>
              <a:srgbClr val="FA5D20"/>
            </a:soli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6"/>
            <p:cNvSpPr txBox="1"/>
            <p:nvPr/>
          </p:nvSpPr>
          <p:spPr>
            <a:xfrm>
              <a:off x="3831732" y="2852447"/>
              <a:ext cx="1121400" cy="11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ru" sz="1148" u="none" cap="none" strike="noStrike">
                  <a:solidFill>
                    <a:srgbClr val="FFFFFF"/>
                  </a:solidFill>
                  <a:latin typeface="Manrope ExtraBold"/>
                  <a:ea typeface="Manrope ExtraBold"/>
                  <a:cs typeface="Manrope ExtraBold"/>
                  <a:sym typeface="Manrope ExtraBold"/>
                </a:rPr>
                <a:t>РЕГУЛЯРНЫЙ ЯЗЫК</a:t>
              </a:r>
              <a:endParaRPr i="0" sz="1148" u="none" cap="none" strike="noStrike">
                <a:solidFill>
                  <a:srgbClr val="FFFFFF"/>
                </a:solidFill>
                <a:latin typeface="Manrope ExtraBold"/>
                <a:ea typeface="Manrope ExtraBold"/>
                <a:cs typeface="Manrope ExtraBold"/>
                <a:sym typeface="Manrope ExtraBold"/>
              </a:endParaRPr>
            </a:p>
          </p:txBody>
        </p:sp>
        <p:sp>
          <p:nvSpPr>
            <p:cNvPr id="71" name="Google Shape;71;p16"/>
            <p:cNvSpPr/>
            <p:nvPr/>
          </p:nvSpPr>
          <p:spPr>
            <a:xfrm rot="-5400000">
              <a:off x="4224258" y="2042419"/>
              <a:ext cx="336600" cy="539400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E6AF91"/>
                </a:gs>
                <a:gs pos="34000">
                  <a:srgbClr val="E7B193"/>
                </a:gs>
                <a:gs pos="70000">
                  <a:srgbClr val="ECB494"/>
                </a:gs>
                <a:gs pos="100000">
                  <a:srgbClr val="F1BEA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 txBox="1"/>
            <p:nvPr/>
          </p:nvSpPr>
          <p:spPr>
            <a:xfrm rot="-5400000">
              <a:off x="4274660" y="2200669"/>
              <a:ext cx="2358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3527092" y="2354"/>
              <a:ext cx="1718400" cy="1982700"/>
            </a:xfrm>
            <a:prstGeom prst="ellipse">
              <a:avLst/>
            </a:prstGeom>
            <a:solidFill>
              <a:srgbClr val="FA5D20"/>
            </a:soli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6"/>
            <p:cNvSpPr txBox="1"/>
            <p:nvPr/>
          </p:nvSpPr>
          <p:spPr>
            <a:xfrm>
              <a:off x="3685333" y="508983"/>
              <a:ext cx="1401900" cy="10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00" lIns="13600" spcFirstLastPara="1" rIns="13600" wrap="square" tIns="13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i="0" lang="ru" sz="1071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ПРАВИЛА</a:t>
              </a:r>
              <a:endParaRPr b="1" sz="1071"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i="0" lang="ru" sz="1071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Регулярная грамматика</a:t>
              </a:r>
              <a:endParaRPr b="1" i="0" sz="107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1799511">
              <a:off x="5177725" y="3694102"/>
              <a:ext cx="336683" cy="539370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E6AF91"/>
                </a:gs>
                <a:gs pos="34000">
                  <a:srgbClr val="E7B193"/>
                </a:gs>
                <a:gs pos="70000">
                  <a:srgbClr val="ECB494"/>
                </a:gs>
                <a:gs pos="100000">
                  <a:srgbClr val="F1BEA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 txBox="1"/>
            <p:nvPr/>
          </p:nvSpPr>
          <p:spPr>
            <a:xfrm rot="1801523">
              <a:off x="5184531" y="3776785"/>
              <a:ext cx="235619" cy="323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5496614" y="3631696"/>
              <a:ext cx="1800900" cy="1982700"/>
            </a:xfrm>
            <a:prstGeom prst="ellipse">
              <a:avLst/>
            </a:prstGeom>
            <a:solidFill>
              <a:srgbClr val="FA5D20"/>
            </a:soli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666666"/>
                </a:solidFill>
              </a:endParaRPr>
            </a:p>
          </p:txBody>
        </p:sp>
        <p:sp>
          <p:nvSpPr>
            <p:cNvPr id="78" name="Google Shape;78;p16"/>
            <p:cNvSpPr txBox="1"/>
            <p:nvPr/>
          </p:nvSpPr>
          <p:spPr>
            <a:xfrm>
              <a:off x="5666089" y="3922025"/>
              <a:ext cx="1510500" cy="14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00" lIns="13600" spcFirstLastPara="1" rIns="13600" wrap="square" tIns="1360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71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" sz="1071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РАСПОЗНАВАТЕЛЬ</a:t>
              </a:r>
              <a:endParaRPr b="1" sz="1071"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i="0" lang="ru" sz="1071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КДА</a:t>
              </a:r>
              <a:endParaRPr b="1" i="0" sz="107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 rot="9000489">
              <a:off x="3270497" y="3694014"/>
              <a:ext cx="336683" cy="539370"/>
            </a:xfrm>
            <a:prstGeom prst="rightArrow">
              <a:avLst>
                <a:gd fmla="val 60000" name="adj1"/>
                <a:gd fmla="val 50000" name="adj2"/>
              </a:avLst>
            </a:prstGeom>
            <a:gradFill>
              <a:gsLst>
                <a:gs pos="0">
                  <a:srgbClr val="E6AF91"/>
                </a:gs>
                <a:gs pos="34000">
                  <a:srgbClr val="E7B193"/>
                </a:gs>
                <a:gs pos="70000">
                  <a:srgbClr val="ECB494"/>
                </a:gs>
                <a:gs pos="100000">
                  <a:srgbClr val="F1BEA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 txBox="1"/>
            <p:nvPr/>
          </p:nvSpPr>
          <p:spPr>
            <a:xfrm rot="-1801523">
              <a:off x="3364723" y="3776723"/>
              <a:ext cx="235619" cy="3235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1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1396432" y="3631696"/>
              <a:ext cx="1852500" cy="1982700"/>
            </a:xfrm>
            <a:prstGeom prst="ellipse">
              <a:avLst/>
            </a:prstGeom>
            <a:solidFill>
              <a:srgbClr val="FA5D20"/>
            </a:solidFill>
            <a:ln>
              <a:noFill/>
            </a:ln>
            <a:effectLst>
              <a:outerShdw blurRad="34029" rotWithShape="0" algn="br" dir="2700000" dist="19445">
                <a:srgbClr val="000000">
                  <a:alpha val="60000"/>
                </a:srgbClr>
              </a:outerShdw>
            </a:effectLst>
          </p:spPr>
          <p:txBody>
            <a:bodyPr anchorCtr="0" anchor="ctr" bIns="70000" lIns="70000" spcFirstLastPara="1" rIns="70000" wrap="square" tIns="700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6"/>
            <p:cNvSpPr txBox="1"/>
            <p:nvPr/>
          </p:nvSpPr>
          <p:spPr>
            <a:xfrm>
              <a:off x="1611516" y="3922038"/>
              <a:ext cx="1401900" cy="14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600" lIns="13600" spcFirstLastPara="1" rIns="13600" wrap="square" tIns="13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ru" sz="1071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ФОРМУЛА</a:t>
              </a:r>
              <a:endParaRPr b="1" sz="1071">
                <a:latin typeface="Manrope"/>
                <a:ea typeface="Manrope"/>
                <a:cs typeface="Manrope"/>
                <a:sym typeface="Manrope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i="0" lang="ru" sz="1071" u="none" cap="none" strike="noStrike">
                  <a:solidFill>
                    <a:srgbClr val="FFFFFF"/>
                  </a:solidFill>
                  <a:latin typeface="Manrope"/>
                  <a:ea typeface="Manrope"/>
                  <a:cs typeface="Manrope"/>
                  <a:sym typeface="Manrope"/>
                </a:rPr>
                <a:t>Регулярное выражение</a:t>
              </a:r>
              <a:endParaRPr b="1" i="0" sz="1071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400" y="2579950"/>
            <a:ext cx="2930925" cy="2324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450000" y="2788625"/>
            <a:ext cx="4599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 С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войство позволяет создавать распознаватели для языков, построенных из других с помощью </a:t>
            </a:r>
            <a:r>
              <a:rPr lang="ru" sz="16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определенных операций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450000" y="1374850"/>
            <a:ext cx="84207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Одним из важнейших свойств регулярных языков является - </a:t>
            </a:r>
            <a:r>
              <a:rPr lang="ru" sz="2600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b="1" lang="ru"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свойство замкнутости</a:t>
            </a:r>
            <a:r>
              <a:rPr b="1" lang="ru" sz="2600">
                <a:solidFill>
                  <a:schemeClr val="dk1"/>
                </a:solidFill>
                <a:highlight>
                  <a:schemeClr val="lt1"/>
                </a:highlight>
                <a:latin typeface="Manrope"/>
                <a:ea typeface="Manrope"/>
                <a:cs typeface="Manrope"/>
                <a:sym typeface="Manrope"/>
              </a:rPr>
              <a:t>»</a:t>
            </a:r>
            <a:br>
              <a:rPr lang="ru"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447867" y="368425"/>
            <a:ext cx="68064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Замкнутость регулярных языков относительно следующих операций</a:t>
            </a:r>
            <a:endParaRPr b="1" sz="3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450000" y="1658263"/>
            <a:ext cx="4570200" cy="2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1. Объединение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 Пересечение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3. Дополнение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4. Разность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5. Обращение (Реверс) 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639800" y="1658275"/>
            <a:ext cx="40755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6. Итерация (звездочка)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7. Конкатенация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8. Гомоморфизм (подстановка цепочек вместо символов языка)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9. Обратный гомоморфизм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450000" y="368425"/>
            <a:ext cx="63234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Замкнутость для трех булевых операций:  объединение, пересечение и дополнение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450000" y="1747100"/>
            <a:ext cx="4659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 , M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— языки в алфавите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Σ.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i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439350" y="2287800"/>
            <a:ext cx="8265300" cy="28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Тогда 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889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язык L U M содержит все цепочки, кото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рые принадлежат хотя бы одному из языков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или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M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889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язык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 &amp; M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содержит все цепочки, при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надлежащие обоим языкам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 и M.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889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— некоторый язык в алфавите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Σ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  </a:t>
            </a:r>
            <a:endParaRPr i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488950" lvl="0" marL="5143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AutoNum type="arabicPeriod"/>
            </a:pP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Тогда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язык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,  дополнение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— это мно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жество тех цепочек в алфавите Σ , которые не принадлежат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 txBox="1"/>
          <p:nvPr/>
        </p:nvSpPr>
        <p:spPr>
          <a:xfrm>
            <a:off x="450000" y="368425"/>
            <a:ext cx="6323400" cy="18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Если </a:t>
            </a:r>
            <a:r>
              <a:rPr i="1"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 и M — регулярные языки, </a:t>
            </a:r>
            <a:endParaRPr i="1"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i="1"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то L U M </a:t>
            </a: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также </a:t>
            </a:r>
            <a:r>
              <a:rPr i="1"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регулярен.</a:t>
            </a:r>
            <a:br>
              <a:rPr b="1" i="1" lang="ru" sz="2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450000" y="1606750"/>
            <a:ext cx="30000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144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u="sng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Доказательство.</a:t>
            </a:r>
            <a:endParaRPr sz="1900" u="sng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428625" y="2012375"/>
            <a:ext cx="8429700" cy="22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Поскольку языки </a:t>
            </a:r>
            <a:r>
              <a:rPr b="1" i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 и M </a:t>
            </a:r>
            <a:r>
              <a:rPr i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регулярны, им соответствуют некоторые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регулярные выражения.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Пусть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 = L(R) и M = L(S). </a:t>
            </a:r>
            <a:endParaRPr b="1" i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 "/>
            </a:pPr>
            <a:r>
              <a:rPr b="1" i="1" lang="ru" sz="16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Тогда</a:t>
            </a:r>
            <a:endParaRPr b="1" i="1" sz="1600" u="sng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 "/>
            </a:pPr>
            <a:r>
              <a:rPr b="1" i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 U M = L(R + S)</a:t>
            </a:r>
            <a:endParaRPr b="1" i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 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согласно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опре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делению операции + для регулярных выражений.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/>
        </p:nvSpPr>
        <p:spPr>
          <a:xfrm>
            <a:off x="450000" y="368425"/>
            <a:ext cx="6477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Замкнутость относительно регулярных операций конкатенации и итерации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428625" y="2112600"/>
            <a:ext cx="7056600" cy="1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 "/>
            </a:pPr>
            <a:r>
              <a:rPr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если </a:t>
            </a:r>
            <a:r>
              <a:rPr b="1"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 и M </a:t>
            </a:r>
            <a:r>
              <a:rPr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— регулярные языки, то язык </a:t>
            </a:r>
            <a:r>
              <a:rPr b="1"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LM</a:t>
            </a:r>
            <a:r>
              <a:rPr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регулярен;</a:t>
            </a:r>
            <a:endParaRPr sz="2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 "/>
            </a:pPr>
            <a:r>
              <a:rPr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если </a:t>
            </a:r>
            <a:r>
              <a:rPr b="1"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— регулярный язык, то </a:t>
            </a:r>
            <a:r>
              <a:rPr b="1"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2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* также регулярен.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 txBox="1"/>
          <p:nvPr/>
        </p:nvSpPr>
        <p:spPr>
          <a:xfrm>
            <a:off x="450000" y="368425"/>
            <a:ext cx="6477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Замкнутость относительно дополнения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450000" y="1483300"/>
            <a:ext cx="8045400" cy="3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91440" lvl="0" marL="914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Если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— регулярный язык в алфавите Σ, то язык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 = Σ* – L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также регулярен.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Доказательство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L = L(A) для некоторого ДКА       A = (Q, Σ, δ, q0, F). </a:t>
            </a:r>
            <a:b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Тогда  L = L(B),</a:t>
            </a:r>
            <a:b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где B — это ДКА (Q, Σ, δ, q0, Q – F),</a:t>
            </a:r>
            <a:b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т.е. автоматы A и B одинаковы, за исключением того, что допускающие состояния автомата A стали  не допускающими в B, и наоборот.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91440" lvl="0" marL="9144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Тогда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w принадлежит L(B), тогда и только тогда, δ(q0, w) принадлежит Q – F, т.е. w не принадлежит L(A).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9144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3"/>
          <p:cNvSpPr txBox="1"/>
          <p:nvPr/>
        </p:nvSpPr>
        <p:spPr>
          <a:xfrm>
            <a:off x="450000" y="368425"/>
            <a:ext cx="64773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Замкнутость относительно пересечения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450000" y="1597125"/>
            <a:ext cx="76917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 u="sng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Рассмотрим пересечение двух регулярных языков. </a:t>
            </a:r>
            <a:endParaRPr sz="1600" u="sng">
              <a:solidFill>
                <a:srgbClr val="3F3F3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50000" y="2171000"/>
            <a:ext cx="6736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О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перации объединения, дополнения и пересечения не являются независимыми. Пересечение языков L и M выражается через объединение и дополнение следующим тождеством.</a:t>
            </a:r>
            <a:endParaRPr sz="1600">
              <a:solidFill>
                <a:srgbClr val="3F3F3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8895" y="3293420"/>
            <a:ext cx="3306200" cy="11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4"/>
          <p:cNvSpPr txBox="1"/>
          <p:nvPr/>
        </p:nvSpPr>
        <p:spPr>
          <a:xfrm>
            <a:off x="450000" y="368425"/>
            <a:ext cx="64773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100"/>
              <a:buFont typeface="Calibri"/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Для </a:t>
            </a:r>
            <a:r>
              <a:rPr i="1"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L и M построим автомат A, моделирующий автоматы A(L) и A(M) одновременно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3F3F3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4000925" y="2473298"/>
            <a:ext cx="426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A = (QL × QM, Σ, δ, (qL, qM), (FL × FM),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где δ((</a:t>
            </a:r>
            <a:r>
              <a:rPr i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p, q), a) = (δL(p, a), δM(q, a)).</a:t>
            </a:r>
            <a:endParaRPr sz="16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3972819" y="21132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Формально:</a:t>
            </a:r>
            <a:endParaRPr u="sng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01" y="1955700"/>
            <a:ext cx="2832400" cy="27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450000" y="368425"/>
            <a:ext cx="6477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Обращение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450000" y="1173775"/>
            <a:ext cx="647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Обращением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(или реверсом) цепочки  a1 a2 a3 ..an </a:t>
            </a:r>
            <a:endParaRPr baseline="30000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450000" y="2200732"/>
            <a:ext cx="8084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Обращение цепочки w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обозначается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w </a:t>
            </a:r>
            <a:r>
              <a:rPr b="1" baseline="30000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</a:t>
            </a:r>
            <a:r>
              <a:rPr baseline="30000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aseline="30000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Обращение языка  L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обозначается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 </a:t>
            </a:r>
            <a:r>
              <a:rPr b="1" baseline="30000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и состоит из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всех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цепочек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обратных цепочкам языка. 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50000" y="1653575"/>
            <a:ext cx="794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-"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называется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цепочка записанная в обратном порядке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an an-1 ... а3 a2 a1.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450000" y="3346503"/>
            <a:ext cx="8265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Например:</a:t>
            </a:r>
            <a:endParaRPr b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1.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Если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={001, 10, 111},  то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 </a:t>
            </a:r>
            <a:r>
              <a:rPr b="1" baseline="30000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</a:t>
            </a:r>
            <a:r>
              <a:rPr baseline="30000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={100, 01, 111}.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задается регулярным выражением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(1|0)0*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, то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L</a:t>
            </a:r>
            <a:r>
              <a:rPr b="1" baseline="30000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R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задается</a:t>
            </a:r>
            <a:r>
              <a:rPr b="1"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регулярным выражением </a:t>
            </a: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0*(1|0)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450000" y="368425"/>
            <a:ext cx="6477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Алгоритм распознавания для L </a:t>
            </a:r>
            <a:r>
              <a:rPr baseline="30000"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R</a:t>
            </a: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09900" y="1169375"/>
            <a:ext cx="8205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Если задан язык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для которого есть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КДА A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то можно построить автомат для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b="1" baseline="30000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R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следующим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образом.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450000" y="1837963"/>
            <a:ext cx="7746600" cy="2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1.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Обратить все дуги на диаграмме переходов автомата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A.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2.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Сделать начальное состояние автомата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A единственным допускающим состоянием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нового автомата.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3.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Создать новое начальное состояние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p0 с ε-переходами во все допускающие состоя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ния автомата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A.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469350" y="3634217"/>
            <a:ext cx="82053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 результате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получим автомат, имитирующий автомат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A “в обратном порядке” и, следо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вательно, допускающий цепочку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w тогда и только тогда, когда A допускает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w </a:t>
            </a:r>
            <a:r>
              <a:rPr baseline="30000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R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b="1" sz="1600" u="sng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Сделать пример 1(0|1)1+</a:t>
            </a:r>
            <a:endParaRPr b="1" sz="1600" u="sng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7"/>
          <p:cNvSpPr txBox="1"/>
          <p:nvPr/>
        </p:nvSpPr>
        <p:spPr>
          <a:xfrm>
            <a:off x="450000" y="368425"/>
            <a:ext cx="6477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Гомоморфизм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93" name="Google Shape;193;p27"/>
          <p:cNvSpPr txBox="1"/>
          <p:nvPr/>
        </p:nvSpPr>
        <p:spPr>
          <a:xfrm>
            <a:off x="510025" y="1127950"/>
            <a:ext cx="8205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Гомоморфизм цепочек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— это такая функция на множестве цепочек, которая подставляет определенную цепочку вместо каждого символа данной цепочки.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4" name="Google Shape;194;p27"/>
          <p:cNvSpPr txBox="1"/>
          <p:nvPr/>
        </p:nvSpPr>
        <p:spPr>
          <a:xfrm>
            <a:off x="450000" y="1837975"/>
            <a:ext cx="84882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Примеры.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1. Функция h, определенная как h(0) = ab и h(1) = ε, является гомоморфизмом.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 любой цепочке из символов 0 и 1   h заменяет все нули цепочкой ab,    а все единицы — пустой цепочкой.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Например, применяя h к цепочке 0011, получим abab.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Формально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если h есть некоторый гомоморфизм на алфавите Σ,    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w = a1a2…an — цепочка символов в Σ,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 h(w) = h(a1)h(a2)…h(an).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 txBox="1"/>
          <p:nvPr/>
        </p:nvSpPr>
        <p:spPr>
          <a:xfrm>
            <a:off x="450000" y="944175"/>
            <a:ext cx="85746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Гомоморфизм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языка определяется с помощью его применения к каждой цепочке языка, т.е. если L — язык в алфавите Σ,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428625" y="1606775"/>
            <a:ext cx="7506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 — гомоморфизм на Σ, то h(L) = {h(w) | L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Ↄ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w}. </a:t>
            </a:r>
            <a:endParaRPr i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439350" y="2120019"/>
            <a:ext cx="82653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1. Рассмотрим язык L регулярного выражения ab*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— гомоморфизм  h(a) =1 h(b) = 0 , тогда h(L)  это язык выражения L(1 0*)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439350" y="3105836"/>
            <a:ext cx="82653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2. Рассмотрим язык L регулярного выражения 10*1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h — гомоморфизм h(0) = ab и h(1) = ε. Тогда h(L) —  это язык выражения (ab)*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439350" y="4256798"/>
            <a:ext cx="82653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Если L — регулярный язык в алфавите Σ,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h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— гомоморфизм на Σ, то язык h(L) также регулярен.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/>
        </p:nvSpPr>
        <p:spPr>
          <a:xfrm>
            <a:off x="450000" y="1482975"/>
            <a:ext cx="8545800" cy="10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Если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— регулярный язык в алфавите Σ, 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— гомоморфизм на Σ, то язык h(L) также регулярен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 u="sng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28625" y="2145575"/>
            <a:ext cx="8265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Доказательство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L = L(R) для некоторого регулярного выражения R. </a:t>
            </a:r>
            <a:endParaRPr i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439350" y="2658819"/>
            <a:ext cx="82653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Вообще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если E есть регулярное выражение с символами из алфавита Σ, то пусть h(E) — выражение, полученное в результате замены каждого символа a в выражении E цепочкой h(a).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t/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439350" y="896925"/>
            <a:ext cx="82653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Утверждается, что выражение h(R) определяет язык h(L).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439350" y="1446600"/>
            <a:ext cx="8265300" cy="30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Это легко доказать с помощью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структурной индукции. 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Если применить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гомоморфизм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к любому подвыражению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E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выражения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R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то язык выражения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h(E)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совпадет с языком, полученным в результате применения этого гомоморфизма к языку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L(E)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Формально,</a:t>
            </a:r>
            <a:endParaRPr b="1" sz="1600" u="sng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L(h(E)) = h(L(E)).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Базис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 Если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E есть ε или ∅, то h(E) совпадает с E, поскольку h не влияет на цепочку ε 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или язык ∅.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   L(h(E)) = L(E) = h(L(E)).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439350" y="1903800"/>
            <a:ext cx="8265300" cy="19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Возможен еще один базисный вариант, когда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E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=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a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 для некоторого символа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a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 из Σ. </a:t>
            </a:r>
            <a:endParaRPr sz="1600">
              <a:solidFill>
                <a:srgbClr val="3F3F3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В этом случае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L(E) = {a}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b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и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h(L(E)) = {h(a)}</a:t>
            </a: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b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и </a:t>
            </a:r>
            <a:r>
              <a:rPr b="1" lang="ru" sz="16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L(h(E)) = h(L(</a:t>
            </a:r>
            <a:r>
              <a:rPr b="1" i="1" lang="ru" sz="1800">
                <a:solidFill>
                  <a:srgbClr val="3F3F3F"/>
                </a:solidFill>
                <a:latin typeface="Manrope"/>
                <a:ea typeface="Manrope"/>
                <a:cs typeface="Manrope"/>
                <a:sym typeface="Manrope"/>
              </a:rPr>
              <a:t>E))</a:t>
            </a:r>
            <a:endParaRPr b="1" sz="1600">
              <a:solidFill>
                <a:srgbClr val="3F3F3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Manrope"/>
              <a:buChar char=" "/>
            </a:pPr>
            <a:r>
              <a:t/>
            </a:r>
            <a:endParaRPr sz="1600">
              <a:solidFill>
                <a:srgbClr val="3F3F3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2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2"/>
          <p:cNvSpPr txBox="1"/>
          <p:nvPr/>
        </p:nvSpPr>
        <p:spPr>
          <a:xfrm>
            <a:off x="439350" y="368425"/>
            <a:ext cx="82653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Manrope SemiBold"/>
              <a:buChar char=" "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Индукция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439350" y="1065625"/>
            <a:ext cx="82653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 зависимости от операции в регулярном выражении возможны три ситуации: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объединение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конкатенация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и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итерация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39350" y="1902000"/>
            <a:ext cx="82653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Все они просты, поэтому обоснуем индукцию только для объединения,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E = F + G.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Способ применения гомоморфизмов к регулярным выражениям гарантирует,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что h(E) = h(F + G) = h(F) + h(G)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 И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звестно, что L(E) = L(F) U L(G) и  L(h(E)) = L(h(F) + h(G)) = L(h(F)) U L(h(G))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по определению операции + для регулярных выражений.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39350" y="3886975"/>
            <a:ext cx="92364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Наконец,</a:t>
            </a:r>
            <a:endParaRPr b="1" sz="1600" u="sng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b="1" i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h(L(E)) = h(L(F) U L(G)) = h(L(F)) U h(L(G)), </a:t>
            </a:r>
            <a:endParaRPr b="1"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 txBox="1"/>
          <p:nvPr/>
        </p:nvSpPr>
        <p:spPr>
          <a:xfrm>
            <a:off x="439350" y="368425"/>
            <a:ext cx="8265300" cy="2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Manrope SemiBold"/>
              <a:buChar char=" "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Обратный гомоморфизм 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Manrope"/>
              <a:buChar char=" "/>
            </a:pPr>
            <a:r>
              <a:t/>
            </a:r>
            <a:endParaRPr b="1" sz="2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Manrope"/>
              <a:buChar char=" "/>
            </a:pPr>
            <a:r>
              <a:t/>
            </a:r>
            <a:endParaRPr b="1" sz="2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2600"/>
              <a:buFont typeface="Manrope"/>
              <a:buChar char=" "/>
            </a:pPr>
            <a:r>
              <a:t/>
            </a:r>
            <a:endParaRPr b="1" sz="2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1" name="Google Shape;251;p33"/>
          <p:cNvSpPr txBox="1"/>
          <p:nvPr/>
        </p:nvSpPr>
        <p:spPr>
          <a:xfrm>
            <a:off x="439350" y="1065625"/>
            <a:ext cx="8265300" cy="1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Предположим, что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— </a:t>
            </a:r>
            <a:r>
              <a:rPr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гомоморфизм из алфавита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Σ в цепочки, заданные в другом (возможно, том же) алфавите T.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2" name="Google Shape;252;p33"/>
          <p:cNvSpPr txBox="1"/>
          <p:nvPr/>
        </p:nvSpPr>
        <p:spPr>
          <a:xfrm>
            <a:off x="439350" y="1853894"/>
            <a:ext cx="82653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L — язык в алфавите T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Тогда </a:t>
            </a:r>
            <a:r>
              <a:rPr b="1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</a:t>
            </a:r>
            <a:r>
              <a:rPr b="1" baseline="30000" i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-1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(L)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читаемое как“обратное h от L”, — это множество цепочек w из Σ *, для которых h(w) принадлежит L.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1016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Manrope"/>
              <a:buChar char=" "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53" name="Google Shape;253;p33"/>
          <p:cNvPicPr preferRelativeResize="0"/>
          <p:nvPr/>
        </p:nvPicPr>
        <p:blipFill rotWithShape="1">
          <a:blip r:embed="rId4">
            <a:alphaModFix/>
          </a:blip>
          <a:srcRect b="2362" l="0" r="0" t="0"/>
          <a:stretch/>
        </p:blipFill>
        <p:spPr>
          <a:xfrm>
            <a:off x="450000" y="3165250"/>
            <a:ext cx="3013950" cy="16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439350" y="828713"/>
            <a:ext cx="8265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Формально, пусть L — это L(A), где ДКА A = (Q, T, δ, q0, F). Определим ДКА B = (Q, Σ, γ, q0, F),  функция переходов γ(q, a) =δ(q, h(a)).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62" name="Google Shape;262;p3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1825" y="2332350"/>
            <a:ext cx="4432800" cy="26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4"/>
          <p:cNvSpPr txBox="1"/>
          <p:nvPr/>
        </p:nvSpPr>
        <p:spPr>
          <a:xfrm>
            <a:off x="439350" y="1558675"/>
            <a:ext cx="8265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Таким образом, переход автомата B по входному символу a является результатом последовательности переходов, совершаемых автоматом A при получении цепочки символов h(a).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4" name="Google Shape;264;p34"/>
          <p:cNvSpPr txBox="1"/>
          <p:nvPr/>
        </p:nvSpPr>
        <p:spPr>
          <a:xfrm>
            <a:off x="450000" y="2549700"/>
            <a:ext cx="3591900" cy="32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С помощью индукции по |w| легко показать, что γ  (q0, w) =δ(q0, h(w)). Т.к допускающие состояния автоматов A и B совпадают, то B допускает цепочку w тогда и только тогда, когда A допускает цепочку h(w). Иными словами, B допускает только те цепочки, которые принадлежат языку h–1(L).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5"/>
          <p:cNvSpPr txBox="1"/>
          <p:nvPr/>
        </p:nvSpPr>
        <p:spPr>
          <a:xfrm>
            <a:off x="450000" y="368425"/>
            <a:ext cx="6477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Доказательство нерегулярности языков</a:t>
            </a:r>
            <a:endParaRPr sz="2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descr="http://myrusakov.ru/images/articles/php-regexp-russian.jpg" id="273" name="Google Shape;27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33534">
            <a:off x="3925438" y="1500096"/>
            <a:ext cx="4143404" cy="321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6"/>
          <p:cNvSpPr txBox="1"/>
          <p:nvPr/>
        </p:nvSpPr>
        <p:spPr>
          <a:xfrm>
            <a:off x="450000" y="368425"/>
            <a:ext cx="6477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Лемма о накачке для регулярных языков</a:t>
            </a:r>
            <a:endParaRPr b="1" sz="2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p36"/>
          <p:cNvSpPr txBox="1"/>
          <p:nvPr/>
        </p:nvSpPr>
        <p:spPr>
          <a:xfrm>
            <a:off x="439350" y="1558675"/>
            <a:ext cx="8265300" cy="12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L — регулярный язык.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Существует константа n (зависящая от L), для которой каждую цепочку w из языка L,  |w| ≥ n, можно разбить на три цепочки w = xyz так, что выполняются следующие условия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439350" y="2951038"/>
            <a:ext cx="8265300" cy="12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1. y ≠ ε.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2. |xy| ≤ n.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3. Для любого k ≥ 0  цепочка  </a:t>
            </a:r>
            <a:r>
              <a:rPr b="1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xy</a:t>
            </a:r>
            <a:r>
              <a:rPr b="1" baseline="30000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  также принадлежит L.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7"/>
          <p:cNvSpPr txBox="1"/>
          <p:nvPr/>
        </p:nvSpPr>
        <p:spPr>
          <a:xfrm>
            <a:off x="439350" y="1103763"/>
            <a:ext cx="8265300" cy="2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Это значит,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что всегда можно найти такую цепочку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y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недалеко от начала цепочки w, которую можно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" sz="160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«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накачать</a:t>
            </a:r>
            <a:r>
              <a:rPr lang="ru" sz="160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»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u" sz="1600" u="sng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Таким образом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, если цепочку </a:t>
            </a:r>
            <a:r>
              <a:rPr b="1"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y</a:t>
            </a: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повторить любое число раз или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удалить (при k = 0), то результирующая цепочка все равно будет принадлежать языку L.</a:t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0048" y="3203538"/>
            <a:ext cx="3935266" cy="1681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8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8"/>
          <p:cNvSpPr txBox="1"/>
          <p:nvPr/>
        </p:nvSpPr>
        <p:spPr>
          <a:xfrm>
            <a:off x="439350" y="368413"/>
            <a:ext cx="82653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Доказательство</a:t>
            </a:r>
            <a:endParaRPr sz="1600" u="sng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301" name="Google Shape;301;p38"/>
          <p:cNvPicPr preferRelativeResize="0"/>
          <p:nvPr/>
        </p:nvPicPr>
        <p:blipFill rotWithShape="1">
          <a:blip r:embed="rId4">
            <a:alphaModFix/>
          </a:blip>
          <a:srcRect b="0" l="5633" r="0" t="0"/>
          <a:stretch/>
        </p:blipFill>
        <p:spPr>
          <a:xfrm>
            <a:off x="450000" y="3356525"/>
            <a:ext cx="8694000" cy="15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8"/>
          <p:cNvSpPr txBox="1"/>
          <p:nvPr/>
        </p:nvSpPr>
        <p:spPr>
          <a:xfrm>
            <a:off x="428625" y="2112325"/>
            <a:ext cx="849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Рассмотрим</a:t>
            </a: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 произвольную цепочку w длиной не менее n,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w = a1a2…am, где m ≥ n и каждый ai есть входной символ. Для i = 0, 1, 2, …, n определим состояние pi  как δ(p0, a1a2…ai), где δ — функция переходов автомата, p0 — его начальное состояние.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450000" y="1065625"/>
            <a:ext cx="7372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L — регулярный язык.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Тогда L = L(A) для некоторого ДКА A. </a:t>
            </a: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Пусть A имеет n состояний. 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495975" y="1304125"/>
            <a:ext cx="84939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Теперь посмотрим, что происходит, когда на вход автомата A поступает цепочка</a:t>
            </a:r>
            <a:r>
              <a:rPr i="1"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xy</a:t>
            </a:r>
            <a:r>
              <a:rPr b="1" baseline="30000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1" i="1"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для любого k ≥ 0.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Manrope"/>
                <a:ea typeface="Manrope"/>
                <a:cs typeface="Manrope"/>
                <a:sym typeface="Manrope"/>
              </a:rPr>
              <a:t>При k = 0 автомат переходит из начального состояния p0 в pi, прочитав x. 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Поскольку pi = pj, то z переводит A из pi в допускающее состояние.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Если k &gt; 0, то по x автомат A переходит из p0 в pi, затем, читая y, k раз циклически проходит через pi, и, наконец, по z переходит в допускающее состояние. 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Таким образом, для любого k ≥ 0 цепочка </a:t>
            </a:r>
            <a:r>
              <a:rPr b="1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xy</a:t>
            </a:r>
            <a:r>
              <a:rPr b="1" baseline="30000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i="1" lang="ru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1" i="1" lang="ru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"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lang="ru">
                <a:latin typeface="Manrope"/>
                <a:ea typeface="Manrope"/>
                <a:cs typeface="Manrope"/>
                <a:sym typeface="Manrope"/>
              </a:rPr>
              <a:t>z также допускается автоматом A,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т</a:t>
            </a:r>
            <a:r>
              <a:rPr lang="ru">
                <a:latin typeface="Manrope"/>
                <a:ea typeface="Manrope"/>
                <a:cs typeface="Manrope"/>
                <a:sym typeface="Manrope"/>
              </a:rPr>
              <a:t>.е. принадлежит языку L.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0"/>
          <p:cNvSpPr txBox="1"/>
          <p:nvPr/>
        </p:nvSpPr>
        <p:spPr>
          <a:xfrm>
            <a:off x="439350" y="372300"/>
            <a:ext cx="51342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Докажите нерегулярность следующих языков: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19" name="Google Shape;319;p40"/>
          <p:cNvSpPr txBox="1"/>
          <p:nvPr/>
        </p:nvSpPr>
        <p:spPr>
          <a:xfrm>
            <a:off x="428625" y="2248950"/>
            <a:ext cx="849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450000" y="1497900"/>
            <a:ext cx="82653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а) {0n1n | n ≥ 1}. Ему принадлежат все цепочки, состоящие из нулей, за которыми следует такое же количество единиц. Здесь для доказательства примените лемму о накачке;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б) множество цепочек, состоящих из “сбалансированных” скобок “(” и “)”, которые встречаются в правильно построенном арифметическом выражении;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в) (∗) {0n10n | n ≥ 1};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г) {0n1m2n | n и m — произвольные целые числа};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д) {0n1m | n ≤ m};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е) {0n12n | n ≥ 1}.</a:t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1"/>
          <p:cNvSpPr txBox="1"/>
          <p:nvPr/>
        </p:nvSpPr>
        <p:spPr>
          <a:xfrm>
            <a:off x="439350" y="448500"/>
            <a:ext cx="69912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Резюме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29" name="Google Shape;329;p41"/>
          <p:cNvSpPr txBox="1"/>
          <p:nvPr/>
        </p:nvSpPr>
        <p:spPr>
          <a:xfrm>
            <a:off x="455306" y="1617127"/>
            <a:ext cx="849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Если язык регулярен, то в каждой достаточно длинной цепочке этого языка есть</a:t>
            </a:r>
            <a:r>
              <a:rPr b="1" lang="ru">
                <a:latin typeface="Manrope"/>
                <a:ea typeface="Manrope"/>
                <a:cs typeface="Manrope"/>
                <a:sym typeface="Manrope"/>
              </a:rPr>
              <a:t> непустая подцепочка</a:t>
            </a:r>
            <a:r>
              <a:rPr lang="ru">
                <a:latin typeface="Manrope"/>
                <a:ea typeface="Manrope"/>
                <a:cs typeface="Manrope"/>
                <a:sym typeface="Manrope"/>
              </a:rPr>
              <a:t>,</a:t>
            </a:r>
            <a:r>
              <a:rPr b="1" lang="ru">
                <a:latin typeface="Manrope"/>
                <a:ea typeface="Manrope"/>
                <a:cs typeface="Manrope"/>
                <a:sym typeface="Manrope"/>
              </a:rPr>
              <a:t> которую можно “накачать”, т.е. повторить</a:t>
            </a:r>
            <a:r>
              <a:rPr lang="ru">
                <a:latin typeface="Manrope"/>
                <a:ea typeface="Manrope"/>
                <a:cs typeface="Manrope"/>
                <a:sym typeface="Manrope"/>
              </a:rPr>
              <a:t> произвольное число раз; получаемые при этом цепочки будут принадлежать данному языку.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Эта лемма используется для доказательства нерегулярности многих языков.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0" name="Google Shape;330;p41"/>
          <p:cNvSpPr txBox="1"/>
          <p:nvPr/>
        </p:nvSpPr>
        <p:spPr>
          <a:xfrm>
            <a:off x="439350" y="1145700"/>
            <a:ext cx="82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♦  Лемма о накачке.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1" name="Google Shape;331;p41"/>
          <p:cNvSpPr txBox="1"/>
          <p:nvPr/>
        </p:nvSpPr>
        <p:spPr>
          <a:xfrm>
            <a:off x="455306" y="3619352"/>
            <a:ext cx="8493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Существует много операций, результат применения которых к регулярным языкам также является регулярным языком. В их числе объединение, конкатенация, замыкание (итерация), пересечение, дополнение, разность, обращение, гомоморфизм (замена каждого символа соответствующей цепочкой) и обратный гомоморфизм.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2" name="Google Shape;332;p41"/>
          <p:cNvSpPr txBox="1"/>
          <p:nvPr/>
        </p:nvSpPr>
        <p:spPr>
          <a:xfrm>
            <a:off x="439350" y="3147925"/>
            <a:ext cx="826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♦  </a:t>
            </a:r>
            <a:r>
              <a:rPr lang="ru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Операции, сохраняющие регулярность языков.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"/>
          <p:cNvSpPr txBox="1"/>
          <p:nvPr/>
        </p:nvSpPr>
        <p:spPr>
          <a:xfrm>
            <a:off x="450000" y="368425"/>
            <a:ext cx="6175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Три основных вопроса о языках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38" name="Google Shape;33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/>
        </p:nvSpPr>
        <p:spPr>
          <a:xfrm>
            <a:off x="457200" y="1907241"/>
            <a:ext cx="1313700" cy="17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9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5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1.</a:t>
            </a:r>
            <a:endParaRPr sz="1005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42"/>
          <p:cNvSpPr txBox="1"/>
          <p:nvPr/>
        </p:nvSpPr>
        <p:spPr>
          <a:xfrm>
            <a:off x="457200" y="3733266"/>
            <a:ext cx="24228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1. Является ли описываемый язык пустым множеством?</a:t>
            </a:r>
            <a:endParaRPr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1" name="Google Shape;341;p42"/>
          <p:cNvSpPr txBox="1"/>
          <p:nvPr/>
        </p:nvSpPr>
        <p:spPr>
          <a:xfrm>
            <a:off x="5760000" y="1910991"/>
            <a:ext cx="15633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9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3.</a:t>
            </a:r>
            <a:endParaRPr sz="10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2" name="Google Shape;342;p42"/>
          <p:cNvSpPr txBox="1"/>
          <p:nvPr/>
        </p:nvSpPr>
        <p:spPr>
          <a:xfrm>
            <a:off x="2889150" y="1910991"/>
            <a:ext cx="1752600" cy="17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95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0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</a:t>
            </a:r>
            <a:endParaRPr sz="100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3" name="Google Shape;343;p42"/>
          <p:cNvSpPr txBox="1"/>
          <p:nvPr/>
        </p:nvSpPr>
        <p:spPr>
          <a:xfrm>
            <a:off x="2835525" y="3733266"/>
            <a:ext cx="29244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highlight>
                  <a:schemeClr val="lt1"/>
                </a:highlight>
                <a:latin typeface="Manrope"/>
                <a:ea typeface="Manrope"/>
                <a:cs typeface="Manrope"/>
                <a:sym typeface="Manrope"/>
              </a:rPr>
              <a:t>2. Принадлежит ли некоторая цепочка w представленному языку?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4" name="Google Shape;344;p42"/>
          <p:cNvSpPr txBox="1"/>
          <p:nvPr/>
        </p:nvSpPr>
        <p:spPr>
          <a:xfrm>
            <a:off x="5760000" y="3733266"/>
            <a:ext cx="32367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3. Действительно ли два разных описания представляют один и тот же язык? (Этот вопрос часто называют “эквивалентностью” языков.)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/>
          <p:cNvSpPr txBox="1"/>
          <p:nvPr/>
        </p:nvSpPr>
        <p:spPr>
          <a:xfrm>
            <a:off x="517579" y="3003750"/>
            <a:ext cx="3397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Существует алгоритм, который по такому заданному представлению регулярного языка, как автомат или регулярное выражение, определяет, является ли представленный язык пустым множеством.</a:t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425035" y="2017800"/>
            <a:ext cx="35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♦  Проверка пустоты регулярного языка 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5188003" y="3085425"/>
            <a:ext cx="368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Существует алгоритм, который по заданной цепочке и некоторому представлению регулярного языка определяет, принадлежит ли цепочка языку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5146825" y="1961397"/>
            <a:ext cx="344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♦  Проверка принадлежности регулярному языку. 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4"/>
          <p:cNvSpPr txBox="1"/>
          <p:nvPr/>
        </p:nvSpPr>
        <p:spPr>
          <a:xfrm>
            <a:off x="428625" y="404025"/>
            <a:ext cx="69912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Минимизация детерминированных конечных автоматов.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64" name="Google Shape;364;p44"/>
          <p:cNvSpPr txBox="1"/>
          <p:nvPr/>
        </p:nvSpPr>
        <p:spPr>
          <a:xfrm>
            <a:off x="455306" y="1617127"/>
            <a:ext cx="849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Состояния любого ДКА можно разбить на группы взаимно неразличимых состояний. </a:t>
            </a:r>
            <a:endParaRPr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Состояния из двух разных групп </a:t>
            </a:r>
            <a:r>
              <a:rPr b="1" lang="ru">
                <a:latin typeface="Manrope"/>
                <a:ea typeface="Manrope"/>
                <a:cs typeface="Manrope"/>
                <a:sym typeface="Manrope"/>
              </a:rPr>
              <a:t>всегда различимы.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5" name="Google Shape;365;p44"/>
          <p:cNvSpPr txBox="1"/>
          <p:nvPr/>
        </p:nvSpPr>
        <p:spPr>
          <a:xfrm>
            <a:off x="455306" y="2275627"/>
            <a:ext cx="8493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Manrope"/>
                <a:ea typeface="Manrope"/>
                <a:cs typeface="Manrope"/>
                <a:sym typeface="Manrope"/>
              </a:rPr>
              <a:t>Если заменить каждую группу одним состоянием, получим эквивалентный ДКА с </a:t>
            </a:r>
            <a:r>
              <a:rPr b="1" lang="ru">
                <a:latin typeface="Manrope"/>
                <a:ea typeface="Manrope"/>
                <a:cs typeface="Manrope"/>
                <a:sym typeface="Manrope"/>
              </a:rPr>
              <a:t>наименьшим числом состояний.</a:t>
            </a:r>
            <a:endParaRPr b="1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5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5"/>
          <p:cNvSpPr txBox="1"/>
          <p:nvPr/>
        </p:nvSpPr>
        <p:spPr>
          <a:xfrm>
            <a:off x="428625" y="404025"/>
            <a:ext cx="69912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2600">
                <a:solidFill>
                  <a:srgbClr val="262626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Вопросы на понимание:</a:t>
            </a:r>
            <a:endParaRPr sz="2600">
              <a:solidFill>
                <a:srgbClr val="262626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74" name="Google Shape;374;p45"/>
          <p:cNvSpPr txBox="1"/>
          <p:nvPr/>
        </p:nvSpPr>
        <p:spPr>
          <a:xfrm>
            <a:off x="455306" y="1617127"/>
            <a:ext cx="8493900" cy="19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900">
                <a:latin typeface="Manrope"/>
                <a:ea typeface="Manrope"/>
                <a:cs typeface="Manrope"/>
                <a:sym typeface="Manrope"/>
              </a:rPr>
              <a:t>1.</a:t>
            </a:r>
            <a:r>
              <a:rPr lang="ru" sz="1900">
                <a:latin typeface="Manrope"/>
                <a:ea typeface="Manrope"/>
                <a:cs typeface="Manrope"/>
                <a:sym typeface="Manrope"/>
              </a:rPr>
              <a:t> Какие булевы операции сохраняют регулярность языка?</a:t>
            </a:r>
            <a:br>
              <a:rPr lang="ru" sz="1900">
                <a:latin typeface="Manrope"/>
                <a:ea typeface="Manrope"/>
                <a:cs typeface="Manrope"/>
                <a:sym typeface="Manrope"/>
              </a:rPr>
            </a:br>
            <a:r>
              <a:rPr b="1" lang="ru"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2.</a:t>
            </a:r>
            <a:r>
              <a:rPr lang="ru"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В чем разница между гомоморфизмом и обратным гомоморфизмом?</a:t>
            </a:r>
            <a:endParaRPr b="1" sz="1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3.</a:t>
            </a:r>
            <a:r>
              <a:rPr lang="ru"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Для чего на практике используется лемма о накачке?</a:t>
            </a:r>
            <a:endParaRPr b="1" sz="1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4.</a:t>
            </a:r>
            <a:r>
              <a:rPr lang="ru" sz="19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 В чем главная идея леммы о накачке?</a:t>
            </a:r>
            <a:endParaRPr b="1" sz="19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"/>
          <p:cNvSpPr/>
          <p:nvPr/>
        </p:nvSpPr>
        <p:spPr>
          <a:xfrm>
            <a:off x="428623" y="4343400"/>
            <a:ext cx="1032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1313" y="520824"/>
            <a:ext cx="1724016" cy="18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3550" y="2865875"/>
            <a:ext cx="5921776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6"/>
          <p:cNvSpPr txBox="1"/>
          <p:nvPr/>
        </p:nvSpPr>
        <p:spPr>
          <a:xfrm>
            <a:off x="428625" y="368425"/>
            <a:ext cx="42438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Регулярные языки</a:t>
            </a:r>
            <a:endParaRPr sz="3600">
              <a:solidFill>
                <a:srgbClr val="2326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